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Robotic Pick &amp; Place for Fruit Sorting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DEEFF"/>
                </a:solidFill>
                <a:latin typeface="Calibri"/>
              </a:defRPr>
            </a:pPr>
            <a:r>
              <a:t>Applied Robotics (04 39984) — University of Birmingham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914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DDEEFF"/>
                </a:solidFill>
                <a:latin typeface="Calibri"/>
              </a:defRPr>
            </a:pPr>
            <a:r>
              <a:t>Final Project | Applied Robotics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111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105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Piero Flores | Zihen Huang | Ran Zhang | Yichang Chao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CCCCCC"/>
                </a:solidFill>
                <a:latin typeface="Calibri"/>
              </a:defRPr>
            </a:pPr>
            <a:r>
              <a:t>Slide 1/8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097280"/>
            <a:ext cx="5669280" cy="36576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1155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Project Scope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554480"/>
            <a:ext cx="5669280" cy="2194560"/>
          </a:xfrm>
          <a:prstGeom prst="rect">
            <a:avLst/>
          </a:prstGeom>
          <a:solidFill>
            <a:srgbClr val="22223A"/>
          </a:solidFill>
          <a:ln w="127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600200"/>
            <a:ext cx="5303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D6"/>
                </a:solidFill>
                <a:latin typeface="Calibri"/>
              </a:defRPr>
            </a:pPr>
            <a:r>
              <a:t>Objective: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FFFFFF"/>
                </a:solidFill>
                <a:latin typeface="Calibri"/>
              </a:defRPr>
            </a:pPr>
            <a:r>
              <a:t>Sort 14 fruits into 3 baskets autonomously</a:t>
            </a:r>
          </a:p>
          <a:p>
            <a:pPr algn="l">
              <a:defRPr sz="1000" b="0">
                <a:solidFill>
                  <a:srgbClr val="CCCCCC"/>
                </a:solidFill>
                <a:latin typeface="Consolas"/>
              </a:defRPr>
            </a:pPr>
            <a:r>
              <a:t>  6 strawberries  |  3 bananas  |  5 tomatoes</a:t>
            </a:r>
          </a:p>
          <a:p>
            <a:pPr algn="l"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1200" b="1">
                <a:solidFill>
                  <a:srgbClr val="FF8C00"/>
                </a:solidFill>
                <a:latin typeface="Calibri"/>
              </a:defRPr>
            </a:pPr>
            <a:r>
              <a:t>Operational Modes: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  Fully Autonomous — vision + plan + pick + place loop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  Remote-Controlled — Tkinter GUI with live D415 feed</a:t>
            </a:r>
          </a:p>
          <a:p>
            <a:pPr algn="l"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1200" b="1">
                <a:solidFill>
                  <a:srgbClr val="4CAF50"/>
                </a:solidFill>
                <a:latin typeface="Calibri"/>
              </a:defRPr>
            </a:pPr>
            <a:r>
              <a:t>Hardware: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  Quanser QArm 4-DOF + Intel RealSense D415 RGBD</a:t>
            </a:r>
          </a:p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  Arm-mounted camera (pose-dependent calibration)</a:t>
            </a:r>
          </a:p>
          <a:p>
            <a:pPr algn="l"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1200" b="1">
                <a:solidFill>
                  <a:srgbClr val="4CAF50"/>
                </a:solidFill>
                <a:latin typeface="Calibri"/>
              </a:defRPr>
            </a:pPr>
            <a:r>
              <a:t>Software: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  Python 3.13 | OpenCV | Tkinter | Vosk (voice)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840480"/>
            <a:ext cx="5669280" cy="1463040"/>
          </a:xfrm>
          <a:prstGeom prst="rect">
            <a:avLst/>
          </a:prstGeom>
          <a:solidFill>
            <a:srgbClr val="22223A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88620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CAF50"/>
                </a:solidFill>
                <a:latin typeface="Calibri"/>
              </a:defRPr>
            </a:pPr>
            <a:r>
              <a:t>Key Features:</a:t>
            </a:r>
          </a:p>
          <a:p>
            <a:pPr algn="l"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HSV + shape-based fruit detection (no ML)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Chessboard session calibration (&lt;30s re-cal)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13-state pick-place FSM with per-fruit tuning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Voice control (Vosk wake-word, offline)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60+ automated tests, quintic trajectories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5394960"/>
            <a:ext cx="5669280" cy="100584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54406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D6"/>
                </a:solidFill>
                <a:latin typeface="Calibri"/>
              </a:defRPr>
            </a:pPr>
            <a:r>
              <a:t>Module: Applied Robotics (04 39984)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Coordinator: Dr Amir Hajiyavand</a:t>
            </a:r>
          </a:p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University of Birmingham — 2025/26</a:t>
            </a:r>
          </a:p>
          <a:p>
            <a:pPr algn="l">
              <a:defRPr sz="1000" b="0">
                <a:solidFill>
                  <a:srgbClr val="FF8C00"/>
                </a:solidFill>
                <a:latin typeface="Calibri"/>
              </a:defRPr>
            </a:pPr>
            <a:r>
              <a:t>Deadline: 1 May 2026</a:t>
            </a:r>
          </a:p>
        </p:txBody>
      </p:sp>
      <p:pic>
        <p:nvPicPr>
          <p:cNvPr id="17" name="Picture 16" descr="Cap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97280"/>
            <a:ext cx="566928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System Architecture: End-to-End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DEEFF"/>
                </a:solidFill>
                <a:latin typeface="Calibri"/>
              </a:defRPr>
            </a:pPr>
            <a:r>
              <a:t>From Camera Frame to Sorted Basket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914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DDEEFF"/>
                </a:solidFill>
                <a:latin typeface="Calibri"/>
              </a:defRPr>
            </a:pPr>
            <a:r>
              <a:t>Final Project | Applied Robotics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111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105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Piero Flores | Zihen Huang | Ran Zhang | Yichang Chao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CCCCCC"/>
                </a:solidFill>
                <a:latin typeface="Calibri"/>
              </a:defRPr>
            </a:pPr>
            <a:r>
              <a:t>Slide 2/8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1143000"/>
            <a:ext cx="1234440" cy="777240"/>
          </a:xfrm>
          <a:prstGeom prst="rect">
            <a:avLst/>
          </a:prstGeom>
          <a:solidFill>
            <a:srgbClr val="2A2A4A"/>
          </a:solidFill>
          <a:ln w="127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096D6"/>
                </a:solidFill>
              </a:defRPr>
            </a:pPr>
            <a:r>
              <a:t>D415</a:t>
            </a:r>
            <a:br/>
            <a:r>
              <a:t>Camera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0" y="1143000"/>
            <a:ext cx="1234440" cy="777240"/>
          </a:xfrm>
          <a:prstGeom prst="rect">
            <a:avLst/>
          </a:prstGeom>
          <a:solidFill>
            <a:srgbClr val="2A2A4A"/>
          </a:solidFill>
          <a:ln w="127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096D6"/>
                </a:solidFill>
              </a:defRPr>
            </a:pPr>
            <a:r>
              <a:t>Calibration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0" y="1143000"/>
            <a:ext cx="1234440" cy="777240"/>
          </a:xfrm>
          <a:prstGeom prst="rect">
            <a:avLst/>
          </a:prstGeom>
          <a:solidFill>
            <a:srgbClr val="2A2A4A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8C00"/>
                </a:solidFill>
              </a:defRPr>
            </a:pPr>
            <a:r>
              <a:t>Fruit</a:t>
            </a:r>
            <a:br/>
            <a:r>
              <a:t>Detection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143000"/>
            <a:ext cx="1234440" cy="777240"/>
          </a:xfrm>
          <a:prstGeom prst="rect">
            <a:avLst/>
          </a:prstGeom>
          <a:solidFill>
            <a:srgbClr val="2A2A4A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8C00"/>
                </a:solidFill>
              </a:defRPr>
            </a:pPr>
            <a:r>
              <a:t>Target</a:t>
            </a:r>
            <a:br/>
            <a:r>
              <a:t>Selection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1143000"/>
            <a:ext cx="1234440" cy="777240"/>
          </a:xfrm>
          <a:prstGeom prst="rect">
            <a:avLst/>
          </a:prstGeom>
          <a:solidFill>
            <a:srgbClr val="2A2A4A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4CAF50"/>
                </a:solidFill>
              </a:defRPr>
            </a:pPr>
            <a:r>
              <a:t>IK</a:t>
            </a:r>
            <a:br/>
            <a:r>
              <a:t>Solver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79" y="1143000"/>
            <a:ext cx="1234440" cy="777240"/>
          </a:xfrm>
          <a:prstGeom prst="rect">
            <a:avLst/>
          </a:prstGeom>
          <a:solidFill>
            <a:srgbClr val="2A2A4A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4CAF50"/>
                </a:solidFill>
              </a:defRPr>
            </a:pPr>
            <a:r>
              <a:t>Quintic</a:t>
            </a:r>
            <a:br/>
            <a:r>
              <a:t>Trajectory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0" y="1143000"/>
            <a:ext cx="1234440" cy="777240"/>
          </a:xfrm>
          <a:prstGeom prst="rect">
            <a:avLst/>
          </a:prstGeom>
          <a:solidFill>
            <a:srgbClr val="2A2A4A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4CAF50"/>
                </a:solidFill>
              </a:defRPr>
            </a:pPr>
            <a:r>
              <a:t>Pick &amp; Place</a:t>
            </a:r>
            <a:br/>
            <a:r>
              <a:t>FSM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24160" y="1143000"/>
            <a:ext cx="1234440" cy="777240"/>
          </a:xfrm>
          <a:prstGeom prst="rect">
            <a:avLst/>
          </a:prstGeom>
          <a:solidFill>
            <a:srgbClr val="2A2A4A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4CAF50"/>
                </a:solidFill>
              </a:defRPr>
            </a:pPr>
            <a:r>
              <a:t>Basket</a:t>
            </a:r>
            <a:br/>
            <a:r>
              <a:t>Sort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123444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123444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123444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06440" y="123444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79" y="123444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19" y="123444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95560" y="123444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148840"/>
            <a:ext cx="3794760" cy="32004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2167128"/>
            <a:ext cx="3611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Sensing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" y="2514600"/>
            <a:ext cx="3794760" cy="2377440"/>
          </a:xfrm>
          <a:prstGeom prst="rect">
            <a:avLst/>
          </a:prstGeom>
          <a:solidFill>
            <a:srgbClr val="22223A"/>
          </a:solidFill>
          <a:ln w="127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2560320"/>
            <a:ext cx="3520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D415 RGB + Depth (640x480)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Chessboard session calibration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solvePnP camera extrinsics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Homography pixel-to-table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Arm-mounted, pose-dependent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T_cam_to_base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60520" y="2148840"/>
            <a:ext cx="3794760" cy="3200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51959" y="2167128"/>
            <a:ext cx="3611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Planning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60520" y="2514600"/>
            <a:ext cx="3794760" cy="2377440"/>
          </a:xfrm>
          <a:prstGeom prst="rect">
            <a:avLst/>
          </a:prstGeom>
          <a:solidFill>
            <a:srgbClr val="22223A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97680" y="2560320"/>
            <a:ext cx="3520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HSV colour segmentation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Shape filtering (area,</a:t>
            </a:r>
          </a:p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  circularity, aspect ratio)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Ray-plane depth projection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Per-fruit pick bias:</a:t>
            </a:r>
          </a:p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  calyx dir, inscribed disk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38160" y="2148840"/>
            <a:ext cx="3794760" cy="32004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0" y="2167128"/>
            <a:ext cx="3611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Actuation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38160" y="2514600"/>
            <a:ext cx="3794760" cy="2377440"/>
          </a:xfrm>
          <a:prstGeom prst="rect">
            <a:avLst/>
          </a:prstGeom>
          <a:solidFill>
            <a:srgbClr val="22223A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75320" y="2560320"/>
            <a:ext cx="3520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4-DOF analytic IK (4 solutions)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Joint-limit filter + optimal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Quintic spline trajectories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13-state pick-place FSM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Gripper ramp + readback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Per-fruit depth tuning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2880" y="5074920"/>
            <a:ext cx="5760720" cy="1280160"/>
          </a:xfrm>
          <a:prstGeom prst="rect">
            <a:avLst/>
          </a:prstGeom>
          <a:solidFill>
            <a:srgbClr val="22223A"/>
          </a:solidFill>
          <a:ln w="127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5120640"/>
            <a:ext cx="5394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D6"/>
                </a:solidFill>
                <a:latin typeface="Calibri"/>
              </a:defRPr>
            </a:pPr>
            <a:r>
              <a:t>Autonomous Mode: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Full pipeline loops: scan -&gt; detect -&gt; pick -&gt; place -&gt; repeat</a:t>
            </a:r>
          </a:p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Sorts all 14 fruits without operator input</a:t>
            </a:r>
          </a:p>
          <a:p>
            <a:pPr algn="l"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1100" b="1">
                <a:solidFill>
                  <a:srgbClr val="FF8C00"/>
                </a:solidFill>
                <a:latin typeface="Calibri"/>
              </a:defRPr>
            </a:pPr>
            <a:r>
              <a:t>Remote Mode (GUI):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Tkinter UI: live D415 feed + manual jog + basket shortcuts</a:t>
            </a:r>
          </a:p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Voice control: 'robot, pick strawberry'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26480" y="5074920"/>
            <a:ext cx="5760720" cy="1280160"/>
          </a:xfrm>
          <a:prstGeom prst="rect">
            <a:avLst/>
          </a:prstGeom>
          <a:solidFill>
            <a:srgbClr val="22223A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09360" y="5120640"/>
            <a:ext cx="5394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CAF50"/>
                </a:solidFill>
                <a:latin typeface="Calibri"/>
              </a:defRPr>
            </a:pPr>
            <a:r>
              <a:t>Software Stack:</a:t>
            </a:r>
          </a:p>
          <a:p>
            <a:pPr algn="l"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1000" b="0">
                <a:solidFill>
                  <a:srgbClr val="FFFFFF"/>
                </a:solidFill>
                <a:latin typeface="Consolas"/>
              </a:defRPr>
            </a:pPr>
            <a:r>
              <a:t>Python 3.13      — all control + vision logic</a:t>
            </a:r>
          </a:p>
          <a:p>
            <a:pPr algn="l">
              <a:defRPr sz="1000" b="0">
                <a:solidFill>
                  <a:srgbClr val="FFFFFF"/>
                </a:solidFill>
                <a:latin typeface="Consolas"/>
              </a:defRPr>
            </a:pPr>
            <a:r>
              <a:t>OpenCV 4.x       — HSV, solvePnP, homography</a:t>
            </a:r>
          </a:p>
          <a:p>
            <a:pPr algn="l">
              <a:defRPr sz="1000" b="0">
                <a:solidFill>
                  <a:srgbClr val="FFFFFF"/>
                </a:solidFill>
                <a:latin typeface="Consolas"/>
              </a:defRPr>
            </a:pPr>
            <a:r>
              <a:t>Quanser SDK      — QArm driver (joint I/O)</a:t>
            </a:r>
          </a:p>
          <a:p>
            <a:pPr algn="l">
              <a:defRPr sz="1000" b="0">
                <a:solidFill>
                  <a:srgbClr val="FFFFFF"/>
                </a:solidFill>
                <a:latin typeface="Consolas"/>
              </a:defRPr>
            </a:pPr>
            <a:r>
              <a:t>Tkinter + Pillow — GUI with live video</a:t>
            </a:r>
          </a:p>
          <a:p>
            <a:pPr algn="l">
              <a:defRPr sz="1000" b="0">
                <a:solidFill>
                  <a:srgbClr val="FFFFFF"/>
                </a:solidFill>
                <a:latin typeface="Consolas"/>
              </a:defRPr>
            </a:pPr>
            <a:r>
              <a:t>Vosk + PyAudio   — offline voice commands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Calibration &amp; Vision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DEEFF"/>
                </a:solidFill>
                <a:latin typeface="Calibri"/>
              </a:defRPr>
            </a:pPr>
            <a:r>
              <a:t>From Pixels to Base-Frame Coordinates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914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DDEEFF"/>
                </a:solidFill>
                <a:latin typeface="Calibri"/>
              </a:defRPr>
            </a:pPr>
            <a:r>
              <a:t>Final Project | Applied Robotics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111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105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Piero Flores | Zihen Huang | Ran Zhang | Yichang Chao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CCCCCC"/>
                </a:solidFill>
                <a:latin typeface="Calibri"/>
              </a:defRPr>
            </a:pPr>
            <a:r>
              <a:t>Slide 3/8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097280"/>
            <a:ext cx="5669280" cy="36576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1155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Chessboard Session Calibration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554480"/>
            <a:ext cx="5669280" cy="1828800"/>
          </a:xfrm>
          <a:prstGeom prst="rect">
            <a:avLst/>
          </a:prstGeom>
          <a:solidFill>
            <a:srgbClr val="22223A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600200"/>
            <a:ext cx="5303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00"/>
                </a:solidFill>
                <a:latin typeface="Calibri"/>
              </a:defRPr>
            </a:pPr>
            <a:r>
              <a:t>Calibration Pipeline:</a:t>
            </a:r>
          </a:p>
          <a:p>
            <a:pPr algn="l"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1. Print 7x5 chessboard (30mm squares)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2. Jog-touch origin corner -&gt; chess_origin_in_base_m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3. Move arm to survey1 pose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4. D415 capture -&gt; findChessboardCorners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5. solvePnP -&gt; camera extrinsics at survey pose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6. Homography -&gt; pixel-to-table-plane projection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4CAF50"/>
                </a:solidFill>
                <a:latin typeface="Calibri"/>
              </a:defRPr>
            </a:pPr>
            <a:r>
              <a:t>RMS gate: warn &gt;3mm, error &gt;10mm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474720"/>
            <a:ext cx="5669280" cy="1371600"/>
          </a:xfrm>
          <a:prstGeom prst="rect">
            <a:avLst/>
          </a:prstGeom>
          <a:solidFill>
            <a:srgbClr val="22223A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52044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CAF50"/>
                </a:solidFill>
                <a:latin typeface="Calibri"/>
              </a:defRPr>
            </a:pPr>
            <a:r>
              <a:t>Key Equations:</a:t>
            </a:r>
          </a:p>
          <a:p>
            <a:pPr algn="l"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1000" b="0">
                <a:solidFill>
                  <a:srgbClr val="FFFFFF"/>
                </a:solidFill>
                <a:latin typeface="Consolas"/>
              </a:defRPr>
            </a:pPr>
            <a:r>
              <a:t>Rigid transform:  P_base = R . P_cam + t</a:t>
            </a:r>
          </a:p>
          <a:p>
            <a:pPr algn="l">
              <a:defRPr sz="1000" b="0">
                <a:solidFill>
                  <a:srgbClr val="FFFFFF"/>
                </a:solidFill>
                <a:latin typeface="Consolas"/>
              </a:defRPr>
            </a:pPr>
            <a:r>
              <a:t>Pinhole model:</a:t>
            </a:r>
          </a:p>
          <a:p>
            <a:pPr algn="l">
              <a:defRPr sz="1000" b="0">
                <a:solidFill>
                  <a:srgbClr val="CCCCCC"/>
                </a:solidFill>
                <a:latin typeface="Consolas"/>
              </a:defRPr>
            </a:pPr>
            <a:r>
              <a:t>  L.[u,v,1]' = K.[R|t].[X,Y,Z,1]'</a:t>
            </a:r>
          </a:p>
          <a:p>
            <a:pPr algn="l">
              <a:defRPr sz="1000" b="0">
                <a:solidFill>
                  <a:srgbClr val="FFFFFF"/>
                </a:solidFill>
                <a:latin typeface="Consolas"/>
              </a:defRPr>
            </a:pPr>
            <a:r>
              <a:t>Ray-plane intersection:</a:t>
            </a:r>
          </a:p>
          <a:p>
            <a:pPr algn="l">
              <a:defRPr sz="1000" b="0">
                <a:solidFill>
                  <a:srgbClr val="CCCCCC"/>
                </a:solidFill>
                <a:latin typeface="Consolas"/>
              </a:defRPr>
            </a:pPr>
            <a:r>
              <a:t>  L = (z_table - t_z) / (r3 . K^-1 . [u,v,1]')</a:t>
            </a:r>
          </a:p>
        </p:txBody>
      </p:sp>
      <p:pic>
        <p:nvPicPr>
          <p:cNvPr id="15" name="Picture 14" descr="chessboard_7x5_30m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937760"/>
            <a:ext cx="5669280" cy="141732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6217920" y="1097280"/>
            <a:ext cx="5669280" cy="36576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1155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HSV + Shape Fruit Detection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554480"/>
            <a:ext cx="5669280" cy="1463040"/>
          </a:xfrm>
          <a:prstGeom prst="rect">
            <a:avLst/>
          </a:prstGeom>
          <a:solidFill>
            <a:srgbClr val="22223A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60020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00"/>
                </a:solidFill>
                <a:latin typeface="Calibri"/>
              </a:defRPr>
            </a:pPr>
            <a:r>
              <a:t>Detection Pipeline:</a:t>
            </a:r>
          </a:p>
          <a:p>
            <a:pPr algn="l"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1. Convert frame to HSV colour space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2. Per-fruit HSV mask (with hue-wrap for red)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3. Morphological open/close to clean noise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4. Contour extraction + area/circularity gates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5. Depth lookup -&gt; ray-plane -&gt; base-frame XYZ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108960"/>
            <a:ext cx="5669280" cy="274320"/>
          </a:xfrm>
          <a:prstGeom prst="rect">
            <a:avLst/>
          </a:prstGeom>
          <a:solidFill>
            <a:srgbClr val="2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3127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96D6"/>
                </a:solidFill>
                <a:latin typeface="Consolas"/>
              </a:defRPr>
            </a:pPr>
            <a:r>
              <a:t>Fruit       H range        S       V       Min area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3429000"/>
            <a:ext cx="5669280" cy="256032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3438144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onsolas"/>
              </a:defRPr>
            </a:pPr>
            <a:r>
              <a:t>Banana      14-40          80+     60+     2000 px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3685032"/>
            <a:ext cx="5669280" cy="256032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694176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onsolas"/>
              </a:defRPr>
            </a:pPr>
            <a:r>
              <a:t>Tomato      0-10, 170-180  80+     40+     1500 px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941064"/>
            <a:ext cx="5669280" cy="256032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3950208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onsolas"/>
              </a:defRPr>
            </a:pPr>
            <a:r>
              <a:t>Strawberry  0-10, 170-180  80+     40+      800 px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4251960"/>
            <a:ext cx="5669280" cy="1188720"/>
          </a:xfrm>
          <a:prstGeom prst="rect">
            <a:avLst/>
          </a:prstGeom>
          <a:solidFill>
            <a:srgbClr val="22223A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429768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00"/>
                </a:solidFill>
                <a:latin typeface="Calibri"/>
              </a:defRPr>
            </a:pPr>
            <a:r>
              <a:t>Strawberry Special Handling:</a:t>
            </a:r>
          </a:p>
          <a:p>
            <a:pPr algn="l"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Green calyx detection (_has_green_above)</a:t>
            </a:r>
          </a:p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  -&gt; distinguishes strawberry from tomato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Widest inscribed disk replaces naive centroid</a:t>
            </a:r>
          </a:p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  -&gt; gripper targets fat body, not stem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Calyx direction vector biases pick toward body</a:t>
            </a:r>
          </a:p>
        </p:txBody>
      </p:sp>
      <p:pic>
        <p:nvPicPr>
          <p:cNvPr id="30" name="Picture 29" descr="live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5532120"/>
            <a:ext cx="566928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Control System: IK, Trajectories &amp; FSM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DEEFF"/>
                </a:solidFill>
                <a:latin typeface="Calibri"/>
              </a:defRPr>
            </a:pPr>
            <a:r>
              <a:t>Inverse Kinematics | Quintic Splines | 13-State Machine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914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DDEEFF"/>
                </a:solidFill>
                <a:latin typeface="Calibri"/>
              </a:defRPr>
            </a:pPr>
            <a:r>
              <a:t>Final Project | Applied Robotics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111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105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Piero Flores | Zihen Huang | Ran Zhang | Yichang Chao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CCCCCC"/>
                </a:solidFill>
                <a:latin typeface="Calibri"/>
              </a:defRPr>
            </a:pPr>
            <a:r>
              <a:t>Slide 4/8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097280"/>
            <a:ext cx="5669280" cy="36576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1155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Inverse Kinematics (4-DOF Analytic)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554480"/>
            <a:ext cx="5669280" cy="1463040"/>
          </a:xfrm>
          <a:prstGeom prst="rect">
            <a:avLst/>
          </a:prstGeom>
          <a:solidFill>
            <a:srgbClr val="22223A"/>
          </a:solidFill>
          <a:ln w="127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60020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D6"/>
                </a:solidFill>
                <a:latin typeface="Calibri"/>
              </a:defRPr>
            </a:pPr>
            <a:r>
              <a:t>4 solutions per target position:</a:t>
            </a:r>
          </a:p>
          <a:p>
            <a:pPr algn="l"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1000" b="0">
                <a:solidFill>
                  <a:srgbClr val="FFFFFF"/>
                </a:solidFill>
                <a:latin typeface="Consolas"/>
              </a:defRPr>
            </a:pPr>
            <a:r>
              <a:t>D1 = +sqrt(px^2+py^2): elbow-up / elbow-down</a:t>
            </a:r>
          </a:p>
          <a:p>
            <a:pPr algn="l">
              <a:defRPr sz="1000" b="0">
                <a:solidFill>
                  <a:srgbClr val="FFFFFF"/>
                </a:solidFill>
                <a:latin typeface="Consolas"/>
              </a:defRPr>
            </a:pPr>
            <a:r>
              <a:t>D2 = -sqrt(px^2+py^2): inverted configs</a:t>
            </a:r>
          </a:p>
          <a:p>
            <a:pPr algn="l"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1000" b="0">
                <a:solidFill>
                  <a:srgbClr val="FF8C00"/>
                </a:solidFill>
                <a:latin typeface="Consolas"/>
              </a:defRPr>
            </a:pPr>
            <a:r>
              <a:t>Joint-limit filter: [-3pi/4, 3pi/4]</a:t>
            </a:r>
          </a:p>
          <a:p>
            <a:pPr algn="l">
              <a:defRPr sz="1000" b="0">
                <a:solidFill>
                  <a:srgbClr val="4CAF50"/>
                </a:solidFill>
                <a:latin typeface="Calibri"/>
              </a:defRPr>
            </a:pPr>
            <a:r>
              <a:t>Optimal = minimum joint displacement from current</a:t>
            </a:r>
          </a:p>
          <a:p>
            <a:pPr algn="l"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1000" b="1">
                <a:solidFill>
                  <a:srgbClr val="FF8C00"/>
                </a:solidFill>
                <a:latin typeface="Calibri"/>
              </a:defRPr>
            </a:pPr>
            <a:r>
              <a:t>DH-to-Physical mapping:</a:t>
            </a:r>
          </a:p>
          <a:p>
            <a:pPr algn="l">
              <a:defRPr sz="1000" b="0">
                <a:solidFill>
                  <a:srgbClr val="FFFFFF"/>
                </a:solidFill>
                <a:latin typeface="Consolas"/>
              </a:defRPr>
            </a:pPr>
            <a:r>
              <a:t>  phi_1 = theta_1</a:t>
            </a:r>
          </a:p>
          <a:p>
            <a:pPr algn="l">
              <a:defRPr sz="1000" b="0">
                <a:solidFill>
                  <a:srgbClr val="FFFFFF"/>
                </a:solidFill>
                <a:latin typeface="Consolas"/>
              </a:defRPr>
            </a:pPr>
            <a:r>
              <a:t>  phi_2 = theta_2 + pi/2 - beta  (beta=8.13 deg)</a:t>
            </a:r>
          </a:p>
          <a:p>
            <a:pPr algn="l">
              <a:defRPr sz="1000" b="0">
                <a:solidFill>
                  <a:srgbClr val="FFFFFF"/>
                </a:solidFill>
                <a:latin typeface="Consolas"/>
              </a:defRPr>
            </a:pPr>
            <a:r>
              <a:t>  phi_3 = theta_3 + beta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108960"/>
            <a:ext cx="5669280" cy="1371600"/>
          </a:xfrm>
          <a:prstGeom prst="rect">
            <a:avLst/>
          </a:prstGeom>
          <a:solidFill>
            <a:srgbClr val="22223A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5468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CAF50"/>
                </a:solidFill>
                <a:latin typeface="Calibri"/>
              </a:defRPr>
            </a:pPr>
            <a:r>
              <a:t>Quintic Spline Trajectory:</a:t>
            </a:r>
          </a:p>
          <a:p>
            <a:pPr algn="l"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1200" b="1">
                <a:solidFill>
                  <a:srgbClr val="FFFFFF"/>
                </a:solidFill>
                <a:latin typeface="Consolas"/>
              </a:defRPr>
            </a:pPr>
            <a:r>
              <a:t>s(tau) = 10*tau^3 - 15*tau^4 + 6*tau^5</a:t>
            </a:r>
          </a:p>
          <a:p>
            <a:pPr algn="l"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Zero velocity at start and end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Zero acceleration at start and end</a:t>
            </a:r>
          </a:p>
          <a:p>
            <a:pPr algn="l">
              <a:defRPr sz="1000" b="0">
                <a:solidFill>
                  <a:srgbClr val="4CAF50"/>
                </a:solidFill>
                <a:latin typeface="Calibri"/>
              </a:defRPr>
            </a:pPr>
            <a:r>
              <a:t>Jerk-continuous across segment boundaries</a:t>
            </a:r>
          </a:p>
          <a:p>
            <a:pPr algn="l"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1000" b="0">
                <a:solidFill>
                  <a:srgbClr val="FF8C00"/>
                </a:solidFill>
                <a:latin typeface="Calibri"/>
              </a:defRPr>
            </a:pPr>
            <a:r>
              <a:t>Improvement over cubic: eliminates audible</a:t>
            </a:r>
          </a:p>
          <a:p>
            <a:pPr algn="l">
              <a:defRPr sz="1000" b="0">
                <a:solidFill>
                  <a:srgbClr val="FF8C00"/>
                </a:solidFill>
                <a:latin typeface="Calibri"/>
              </a:defRPr>
            </a:pPr>
            <a:r>
              <a:t>servo jerk on QArm geared drivetrain</a:t>
            </a:r>
          </a:p>
        </p:txBody>
      </p:sp>
      <p:pic>
        <p:nvPicPr>
          <p:cNvPr id="15" name="Picture 14" descr="trajectory_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572000"/>
            <a:ext cx="5669280" cy="173736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6217920" y="1097280"/>
            <a:ext cx="5669280" cy="36576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1155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13-State Pick-Place FSM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554480"/>
            <a:ext cx="5669280" cy="2468880"/>
          </a:xfrm>
          <a:prstGeom prst="rect">
            <a:avLst/>
          </a:prstGeom>
          <a:solidFill>
            <a:srgbClr val="22223A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600200"/>
            <a:ext cx="5303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00"/>
                </a:solidFill>
                <a:latin typeface="Calibri"/>
              </a:defRPr>
            </a:pPr>
            <a:r>
              <a:t>State Sequence:</a:t>
            </a:r>
          </a:p>
          <a:p>
            <a:pPr algn="l"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800" b="0">
                <a:solidFill>
                  <a:srgbClr val="FFFFFF"/>
                </a:solidFill>
                <a:latin typeface="Consolas"/>
              </a:defRPr>
            </a:pPr>
            <a:r>
              <a:t>  INIT              Initialize driver + camera</a:t>
            </a:r>
          </a:p>
          <a:p>
            <a:pPr algn="l">
              <a:defRPr sz="800" b="0">
                <a:solidFill>
                  <a:srgbClr val="FFFFFF"/>
                </a:solidFill>
                <a:latin typeface="Consolas"/>
              </a:defRPr>
            </a:pPr>
            <a:r>
              <a:t>  GO_HOME           Move to safe home position [0.45, 0, 0.49]</a:t>
            </a:r>
          </a:p>
          <a:p>
            <a:pPr algn="l">
              <a:defRPr sz="800" b="0">
                <a:solidFill>
                  <a:srgbClr val="FFFFFF"/>
                </a:solidFill>
                <a:latin typeface="Consolas"/>
              </a:defRPr>
            </a:pPr>
            <a:r>
              <a:t>  SCAN              Capture D415 frame from survey1</a:t>
            </a:r>
          </a:p>
          <a:p>
            <a:pPr algn="l">
              <a:defRPr sz="800" b="0">
                <a:solidFill>
                  <a:srgbClr val="FFFFFF"/>
                </a:solidFill>
                <a:latin typeface="Consolas"/>
              </a:defRPr>
            </a:pPr>
            <a:r>
              <a:t>  SELECT_FRUIT      Choose next target from detections</a:t>
            </a:r>
          </a:p>
          <a:p>
            <a:pPr algn="l">
              <a:defRPr sz="800" b="0">
                <a:solidFill>
                  <a:srgbClr val="FFFFFF"/>
                </a:solidFill>
                <a:latin typeface="Consolas"/>
              </a:defRPr>
            </a:pPr>
            <a:r>
              <a:t>  APPROACH          Move above fruit at SAFE_Z = 0.20m</a:t>
            </a:r>
          </a:p>
          <a:p>
            <a:pPr algn="l">
              <a:defRPr sz="800" b="0">
                <a:solidFill>
                  <a:srgbClr val="FFFFFF"/>
                </a:solidFill>
                <a:latin typeface="Consolas"/>
              </a:defRPr>
            </a:pPr>
            <a:r>
              <a:t>  DESCEND           Lower to pick height (per-fruit depth)</a:t>
            </a:r>
          </a:p>
          <a:p>
            <a:pPr algn="l">
              <a:defRPr sz="800" b="0">
                <a:solidFill>
                  <a:srgbClr val="FFFFFF"/>
                </a:solidFill>
                <a:latin typeface="Consolas"/>
              </a:defRPr>
            </a:pPr>
            <a:r>
              <a:t>  CLOSE_GRIPPER     Ramp close + readback settle</a:t>
            </a:r>
          </a:p>
          <a:p>
            <a:pPr algn="l">
              <a:defRPr sz="800" b="0">
                <a:solidFill>
                  <a:srgbClr val="FFFFFF"/>
                </a:solidFill>
                <a:latin typeface="Consolas"/>
              </a:defRPr>
            </a:pPr>
            <a:r>
              <a:t>  ASCEND_PICK       Lift to SAFE_Z with fruit</a:t>
            </a:r>
          </a:p>
          <a:p>
            <a:pPr algn="l">
              <a:defRPr sz="800" b="0">
                <a:solidFill>
                  <a:srgbClr val="FFFFFF"/>
                </a:solidFill>
                <a:latin typeface="Consolas"/>
              </a:defRPr>
            </a:pPr>
            <a:r>
              <a:t>  MOVE_TO_BASKET    Navigate to category basket XYZ</a:t>
            </a:r>
          </a:p>
          <a:p>
            <a:pPr algn="l">
              <a:defRPr sz="800" b="0">
                <a:solidFill>
                  <a:srgbClr val="FFFFFF"/>
                </a:solidFill>
                <a:latin typeface="Consolas"/>
              </a:defRPr>
            </a:pPr>
            <a:r>
              <a:t>  DESCEND_PLACE     Lower into basket</a:t>
            </a:r>
          </a:p>
          <a:p>
            <a:pPr algn="l">
              <a:defRPr sz="800" b="0">
                <a:solidFill>
                  <a:srgbClr val="FFFFFF"/>
                </a:solidFill>
                <a:latin typeface="Consolas"/>
              </a:defRPr>
            </a:pPr>
            <a:r>
              <a:t>  OPEN_GRIPPER      Release fruit</a:t>
            </a:r>
          </a:p>
          <a:p>
            <a:pPr algn="l">
              <a:defRPr sz="800" b="0">
                <a:solidFill>
                  <a:srgbClr val="FFFFFF"/>
                </a:solidFill>
                <a:latin typeface="Consolas"/>
              </a:defRPr>
            </a:pPr>
            <a:r>
              <a:t>  ASCEND_PLACE      Lift clear, loop to SELECT_FRUIT</a:t>
            </a:r>
          </a:p>
          <a:p>
            <a:pPr algn="l">
              <a:defRPr sz="800" b="0">
                <a:solidFill>
                  <a:srgbClr val="FFFFFF"/>
                </a:solidFill>
                <a:latin typeface="Consolas"/>
              </a:defRPr>
            </a:pPr>
            <a:r>
              <a:t>  DONE              All fruits sorted — return home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4114800"/>
            <a:ext cx="5669280" cy="274320"/>
          </a:xfrm>
          <a:prstGeom prst="rect">
            <a:avLst/>
          </a:prstGeom>
          <a:solidFill>
            <a:srgbClr val="2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4133087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96D6"/>
                </a:solidFill>
                <a:latin typeface="Consolas"/>
              </a:defRPr>
            </a:pPr>
            <a:r>
              <a:t>Parameter        Strawberry   Banana   Tomato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4434840"/>
            <a:ext cx="5669280" cy="256032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4443984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onsolas"/>
              </a:defRPr>
            </a:pPr>
            <a:r>
              <a:t>Pick depth (m)   0.018        0.020    0.020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4690872"/>
            <a:ext cx="5669280" cy="256032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4700016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onsolas"/>
              </a:defRPr>
            </a:pPr>
            <a:r>
              <a:t>X bias (cm)      -3.0         --       --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4946904"/>
            <a:ext cx="5669280" cy="256032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4956048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onsolas"/>
              </a:defRPr>
            </a:pPr>
            <a:r>
              <a:t>Pick offset (m)  0.025        0.020    0.020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5202936"/>
            <a:ext cx="5669280" cy="256032"/>
          </a:xfrm>
          <a:prstGeom prst="rect">
            <a:avLst/>
          </a:prstGeom>
          <a:solidFill>
            <a:srgbClr val="28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5212080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onsolas"/>
              </a:defRPr>
            </a:pPr>
            <a:r>
              <a:t>Grip close       0.90         0.90     0.90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5532120"/>
            <a:ext cx="5669280" cy="822960"/>
          </a:xfrm>
          <a:prstGeom prst="rect">
            <a:avLst/>
          </a:prstGeom>
          <a:solidFill>
            <a:srgbClr val="22223A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557784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CAF50"/>
                </a:solidFill>
                <a:latin typeface="Calibri"/>
              </a:defRPr>
            </a:pPr>
            <a:r>
              <a:t>Gripper Ramp + Readback:</a:t>
            </a:r>
          </a:p>
          <a:p>
            <a:pPr algn="l"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Command grip_close -&gt; wait settle -&gt; read actual</a:t>
            </a:r>
          </a:p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Jaw adapts to fruit size (stalls at thickness)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Confirms grasp before ascending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Human Interface: GUI + Voice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DEEFF"/>
                </a:solidFill>
                <a:latin typeface="Calibri"/>
              </a:defRPr>
            </a:pPr>
            <a:r>
              <a:t>Tkinter Remote Control | Vosk Wake-Word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914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DDEEFF"/>
                </a:solidFill>
                <a:latin typeface="Calibri"/>
              </a:defRPr>
            </a:pPr>
            <a:r>
              <a:t>Final Project | Applied Robotics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111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105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Piero Flores | Zihen Huang | Ran Zhang | Yichang Chao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CCCCCC"/>
                </a:solidFill>
                <a:latin typeface="Calibri"/>
              </a:defRPr>
            </a:pPr>
            <a:r>
              <a:t>Slide 5/8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097280"/>
            <a:ext cx="5669280" cy="36576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1155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Tkinter GUI — Remote Control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554480"/>
            <a:ext cx="5669280" cy="2103120"/>
          </a:xfrm>
          <a:prstGeom prst="rect">
            <a:avLst/>
          </a:prstGeom>
          <a:solidFill>
            <a:srgbClr val="22223A"/>
          </a:solidFill>
          <a:ln w="127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60020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D6"/>
                </a:solidFill>
                <a:latin typeface="Calibri"/>
              </a:defRPr>
            </a:pPr>
            <a:r>
              <a:t>GUI Layout:</a:t>
            </a:r>
          </a:p>
          <a:p>
            <a:pPr algn="l"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800" b="0">
                <a:solidFill>
                  <a:srgbClr val="0096D6"/>
                </a:solidFill>
                <a:latin typeface="Consolas"/>
              </a:defRPr>
            </a:pPr>
            <a:r>
              <a:t>+------------------+-------------------------+</a:t>
            </a:r>
          </a:p>
          <a:p>
            <a:pPr algn="l">
              <a:defRPr sz="800" b="0">
                <a:solidFill>
                  <a:srgbClr val="FFFFFF"/>
                </a:solidFill>
                <a:latin typeface="Consolas"/>
              </a:defRPr>
            </a:pPr>
            <a:r>
              <a:t>| Live D415 feed   | EMERGENCY STOP          |</a:t>
            </a:r>
          </a:p>
          <a:p>
            <a:pPr algn="l">
              <a:defRPr sz="800" b="0">
                <a:solidFill>
                  <a:srgbClr val="FFFFFF"/>
                </a:solidFill>
                <a:latin typeface="Consolas"/>
              </a:defRPr>
            </a:pPr>
            <a:r>
              <a:t>| (640 x 360)      | Manual Teleop (XYZ +/-) |</a:t>
            </a:r>
          </a:p>
          <a:p>
            <a:pPr algn="l">
              <a:defRPr sz="800" b="0">
                <a:solidFill>
                  <a:srgbClr val="FFFFFF"/>
                </a:solidFill>
                <a:latin typeface="Consolas"/>
              </a:defRPr>
            </a:pPr>
            <a:r>
              <a:t>|  + detection     | Basket: B / T / S       |</a:t>
            </a:r>
          </a:p>
          <a:p>
            <a:pPr algn="l">
              <a:defRPr sz="800" b="0">
                <a:solidFill>
                  <a:srgbClr val="FFFFFF"/>
                </a:solidFill>
                <a:latin typeface="Consolas"/>
              </a:defRPr>
            </a:pPr>
            <a:r>
              <a:t>|    overlay       | Gripper: open / close    |</a:t>
            </a:r>
          </a:p>
          <a:p>
            <a:pPr algn="l">
              <a:defRPr sz="800" b="0">
                <a:solidFill>
                  <a:srgbClr val="FFFFFF"/>
                </a:solidFill>
                <a:latin typeface="Consolas"/>
              </a:defRPr>
            </a:pPr>
            <a:r>
              <a:t>|                  | Mode: Manual | Auto      |</a:t>
            </a:r>
          </a:p>
          <a:p>
            <a:pPr algn="l">
              <a:defRPr sz="800" b="0">
                <a:solidFill>
                  <a:srgbClr val="FFFFFF"/>
                </a:solidFill>
                <a:latin typeface="Consolas"/>
              </a:defRPr>
            </a:pPr>
            <a:r>
              <a:t>|                  | Status: ...              |</a:t>
            </a:r>
          </a:p>
          <a:p>
            <a:pPr algn="l">
              <a:defRPr sz="800" b="0">
                <a:solidFill>
                  <a:srgbClr val="0096D6"/>
                </a:solidFill>
                <a:latin typeface="Consolas"/>
              </a:defRPr>
            </a:pPr>
            <a:r>
              <a:t>+------------------+-------------------------+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749039"/>
            <a:ext cx="5669280" cy="1371600"/>
          </a:xfrm>
          <a:prstGeom prst="rect">
            <a:avLst/>
          </a:prstGeom>
          <a:solidFill>
            <a:srgbClr val="22223A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79476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CAF50"/>
                </a:solidFill>
                <a:latin typeface="Calibri"/>
              </a:defRPr>
            </a:pPr>
            <a:r>
              <a:t>Key Features:</a:t>
            </a:r>
          </a:p>
          <a:p>
            <a:pPr algn="l"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Live camera feed updates during picks (not frozen)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E-STOP halts arm + logs EE pose (not just a flag)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Concurrent-read safe (D415 driver not thread-safe)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Detection overlay: coloured boxes per fruit type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Auto batch: press 'all' to sort every fruit</a:t>
            </a:r>
          </a:p>
        </p:txBody>
      </p:sp>
      <p:pic>
        <p:nvPicPr>
          <p:cNvPr id="15" name="Picture 14" descr="1Cap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212080"/>
            <a:ext cx="5669280" cy="114300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6217920" y="1097280"/>
            <a:ext cx="5669280" cy="36576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1155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Voice Control — Vosk Wake-Word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554480"/>
            <a:ext cx="5669280" cy="1828800"/>
          </a:xfrm>
          <a:prstGeom prst="rect">
            <a:avLst/>
          </a:prstGeom>
          <a:solidFill>
            <a:srgbClr val="22223A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600200"/>
            <a:ext cx="5303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00"/>
                </a:solidFill>
                <a:latin typeface="Calibri"/>
              </a:defRPr>
            </a:pPr>
            <a:r>
              <a:t>Wake-Word Protocol:</a:t>
            </a:r>
          </a:p>
          <a:p>
            <a:pPr algn="l"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1. Hear "robot" -&gt; enter awaiting phase (2s timer)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2. Within 2s: hear valid command -&gt; dispatch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3. Timeout or noise -&gt; return to idle</a:t>
            </a:r>
          </a:p>
          <a:p>
            <a:pPr algn="l">
              <a:defRPr sz="1000" b="0">
                <a:solidFill>
                  <a:srgbClr val="4CAF50"/>
                </a:solidFill>
                <a:latin typeface="Calibri"/>
              </a:defRPr>
            </a:pPr>
            <a:r>
              <a:t>"stop" always dispatched (no wake needed)</a:t>
            </a:r>
          </a:p>
          <a:p>
            <a:pPr algn="l"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Example: 'robot, pick strawberry'</a:t>
            </a:r>
          </a:p>
          <a:p>
            <a:pPr algn="l">
              <a:defRPr sz="1100" b="1">
                <a:solidFill>
                  <a:srgbClr val="FF6B6B"/>
                </a:solidFill>
                <a:latin typeface="Calibri"/>
              </a:defRPr>
            </a:pPr>
            <a:r>
              <a:t>Example: 'stop' (immediate halt)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474720"/>
            <a:ext cx="5669280" cy="1280160"/>
          </a:xfrm>
          <a:prstGeom prst="rect">
            <a:avLst/>
          </a:prstGeom>
          <a:solidFill>
            <a:srgbClr val="22223A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52044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CAF50"/>
                </a:solidFill>
                <a:latin typeface="Calibri"/>
              </a:defRPr>
            </a:pPr>
            <a:r>
              <a:t>Architecture:</a:t>
            </a:r>
          </a:p>
          <a:p>
            <a:pPr algn="l"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Vosk + PyAudio — fully offline (no cloud)</a:t>
            </a:r>
          </a:p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Small English model (vosk-model-small-en-us-0.15)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Threaded: VoiceController daemon + callback dispatch</a:t>
            </a:r>
          </a:p>
          <a:p>
            <a:pPr algn="l">
              <a:defRPr sz="1000" b="0">
                <a:solidFill>
                  <a:srgbClr val="FF8C00"/>
                </a:solidFill>
                <a:latin typeface="Calibri"/>
              </a:defRPr>
            </a:pPr>
            <a:r>
              <a:t>Graceful degradation: GUI works without mic/model</a:t>
            </a:r>
          </a:p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Sample rate: 16 kHz, chunk: 4000 frames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4846320"/>
            <a:ext cx="5669280" cy="274320"/>
          </a:xfrm>
          <a:prstGeom prst="rect">
            <a:avLst/>
          </a:prstGeom>
          <a:solidFill>
            <a:srgbClr val="2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486460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96D6"/>
                </a:solidFill>
                <a:latin typeface="Calibri"/>
              </a:defRPr>
            </a:pPr>
            <a:r>
              <a:t>Grammar Words (Vosk restricted vocabulary):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5166360"/>
            <a:ext cx="5669280" cy="5029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518464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onsolas"/>
              </a:defRPr>
            </a:pPr>
            <a:r>
              <a:t>robot | strawberry | banana | tomato | all | stop | home | refresh | survey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5760720"/>
            <a:ext cx="5669280" cy="640080"/>
          </a:xfrm>
          <a:prstGeom prst="rect">
            <a:avLst/>
          </a:prstGeom>
          <a:solidFill>
            <a:srgbClr val="22223A"/>
          </a:solidFill>
          <a:ln w="127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580644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D6"/>
                </a:solidFill>
                <a:latin typeface="Calibri"/>
              </a:defRPr>
            </a:pPr>
            <a:r>
              <a:t>Theory Link: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FSM pattern: same design as pick-place controller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Real-time audio processing at 16kHz (signal processing)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Experimental Results &amp;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DEEFF"/>
                </a:solidFill>
                <a:latin typeface="Calibri"/>
              </a:defRPr>
            </a:pPr>
            <a:r>
              <a:t>Calibration | Detection | Pick &amp; Place | Test 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914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DDEEFF"/>
                </a:solidFill>
                <a:latin typeface="Calibri"/>
              </a:defRPr>
            </a:pPr>
            <a:r>
              <a:t>Final Project | Applied Robotics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111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105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Piero Flores | Zihen Huang | Ran Zhang | Yichang Chao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CCCCCC"/>
                </a:solidFill>
                <a:latin typeface="Calibri"/>
              </a:defRPr>
            </a:pPr>
            <a:r>
              <a:t>Slide 6/8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1097280"/>
            <a:ext cx="3840480" cy="2011680"/>
          </a:xfrm>
          <a:prstGeom prst="rect">
            <a:avLst/>
          </a:prstGeom>
          <a:solidFill>
            <a:srgbClr val="22223A"/>
          </a:solidFill>
          <a:ln w="127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143000"/>
            <a:ext cx="3474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D6"/>
                </a:solidFill>
                <a:latin typeface="Calibri"/>
              </a:defRPr>
            </a:pPr>
            <a:r>
              <a:t>Calibration</a:t>
            </a:r>
          </a:p>
          <a:p>
            <a:pPr algn="l"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Chessboard RMS: ~36 mm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Session-cal refresh: &lt;30 s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solvePnP extrinsics verified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survey1 pose repeatable</a:t>
            </a:r>
          </a:p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Settle tolerance: 0.04 rad</a:t>
            </a:r>
          </a:p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Downstream residual gate: 10mm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097280"/>
            <a:ext cx="3840480" cy="2011680"/>
          </a:xfrm>
          <a:prstGeom prst="rect">
            <a:avLst/>
          </a:prstGeom>
          <a:solidFill>
            <a:srgbClr val="22223A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143000"/>
            <a:ext cx="3474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  <a:latin typeface="Calibri"/>
              </a:defRPr>
            </a:pPr>
            <a:r>
              <a:t>Fruit Detection</a:t>
            </a:r>
          </a:p>
          <a:p>
            <a:pPr algn="l"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3 fruit types classified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HSV + shape pipeline (no ML)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Depth projection to base frame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Calyx-based strawberry ID</a:t>
            </a:r>
          </a:p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Hue-wrap handles red fruits</a:t>
            </a:r>
          </a:p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Area/circularity gates per type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097280"/>
            <a:ext cx="3840480" cy="2011680"/>
          </a:xfrm>
          <a:prstGeom prst="rect">
            <a:avLst/>
          </a:prstGeom>
          <a:solidFill>
            <a:srgbClr val="22223A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143000"/>
            <a:ext cx="3474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CAF50"/>
                </a:solidFill>
                <a:latin typeface="Calibri"/>
              </a:defRPr>
            </a:pPr>
            <a:r>
              <a:t>Pick &amp; Place</a:t>
            </a:r>
          </a:p>
          <a:p>
            <a:pPr algn="l"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14 fruits -&gt; 3 baskets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Autonomous full-cycle demo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Per-fruit depth tuning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Gripper readback confirms grasp</a:t>
            </a:r>
          </a:p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IK fallback for edge poses</a:t>
            </a:r>
          </a:p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Quintic smooth motion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3291840"/>
            <a:ext cx="11704320" cy="32004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310128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Test Suite: 60/60 passing across 6 suites + voice control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3657600"/>
            <a:ext cx="11704320" cy="146304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703320"/>
            <a:ext cx="11338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onsolas"/>
              </a:defRPr>
            </a:pPr>
            <a:r>
              <a:t>test_integration         — end-to-end FSM mock tests</a:t>
            </a:r>
          </a:p>
          <a:p>
            <a:pPr algn="l">
              <a:defRPr sz="900" b="0">
                <a:solidFill>
                  <a:srgbClr val="FFFFFF"/>
                </a:solidFill>
                <a:latin typeface="Consolas"/>
              </a:defRPr>
            </a:pPr>
            <a:r>
              <a:t>test_fruit_detector      — HSV + shape pipeline unit tests</a:t>
            </a:r>
          </a:p>
          <a:p>
            <a:pPr algn="l">
              <a:defRPr sz="900" b="0">
                <a:solidFill>
                  <a:srgbClr val="FFFFFF"/>
                </a:solidFill>
                <a:latin typeface="Consolas"/>
              </a:defRPr>
            </a:pPr>
            <a:r>
              <a:t>test_calibrate_chessboard — solvePnP + homography tests</a:t>
            </a:r>
          </a:p>
          <a:p>
            <a:pPr algn="l">
              <a:defRPr sz="900" b="0">
                <a:solidFill>
                  <a:srgbClr val="FFFFFF"/>
                </a:solidFill>
                <a:latin typeface="Consolas"/>
              </a:defRPr>
            </a:pPr>
            <a:r>
              <a:t>test_pick_single         — single-fruit pick cycle tests</a:t>
            </a:r>
          </a:p>
          <a:p>
            <a:pPr algn="l">
              <a:defRPr sz="900" b="0">
                <a:solidFill>
                  <a:srgbClr val="FFFFFF"/>
                </a:solidFill>
                <a:latin typeface="Consolas"/>
              </a:defRPr>
            </a:pPr>
            <a:r>
              <a:t>test_survey_capture      — camera capture + settle tests</a:t>
            </a:r>
          </a:p>
          <a:p>
            <a:pPr algn="l">
              <a:defRPr sz="900" b="0">
                <a:solidFill>
                  <a:srgbClr val="FFFFFF"/>
                </a:solidFill>
                <a:latin typeface="Consolas"/>
              </a:defRPr>
            </a:pPr>
            <a:r>
              <a:t>test_picker_viewer       — UI event loop + live feed tests</a:t>
            </a:r>
          </a:p>
          <a:p>
            <a:pPr algn="l">
              <a:defRPr sz="900" b="0">
                <a:solidFill>
                  <a:srgbClr val="FFFFFF"/>
                </a:solidFill>
                <a:latin typeface="Consolas"/>
              </a:defRPr>
            </a:pPr>
            <a:r>
              <a:t>test_voice_control       — parser + dispatch integration</a:t>
            </a:r>
          </a:p>
        </p:txBody>
      </p:sp>
      <p:pic>
        <p:nvPicPr>
          <p:cNvPr id="19" name="Picture 18" descr="joint_angles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5257800"/>
            <a:ext cx="3840480" cy="1097280"/>
          </a:xfrm>
          <a:prstGeom prst="rect">
            <a:avLst/>
          </a:prstGeom>
        </p:spPr>
      </p:pic>
      <p:pic>
        <p:nvPicPr>
          <p:cNvPr id="20" name="Picture 19" descr="gripper_st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5257800"/>
            <a:ext cx="3840480" cy="1097280"/>
          </a:xfrm>
          <a:prstGeom prst="rect">
            <a:avLst/>
          </a:prstGeom>
        </p:spPr>
      </p:pic>
      <p:pic>
        <p:nvPicPr>
          <p:cNvPr id="21" name="Picture 20" descr="top_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5257800"/>
            <a:ext cx="38404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Challenges, Solutions &amp; Improvements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DEEFF"/>
                </a:solidFill>
                <a:latin typeface="Calibri"/>
              </a:defRPr>
            </a:pPr>
            <a:r>
              <a:t>Problems Encountered | How We Solved Them | Feedback Response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914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DDEEFF"/>
                </a:solidFill>
                <a:latin typeface="Calibri"/>
              </a:defRPr>
            </a:pPr>
            <a:r>
              <a:t>Final Project | Applied Robotics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111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105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Piero Flores | Zihen Huang | Ran Zhang | Yichang Chao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CCCCCC"/>
                </a:solidFill>
                <a:latin typeface="Calibri"/>
              </a:defRPr>
            </a:pPr>
            <a:r>
              <a:t>Slide 7/8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097280"/>
            <a:ext cx="5669280" cy="3657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1155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Challenges &amp; Solutions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554480"/>
            <a:ext cx="5669280" cy="731520"/>
          </a:xfrm>
          <a:prstGeom prst="rect">
            <a:avLst/>
          </a:prstGeom>
          <a:solidFill>
            <a:srgbClr val="22223A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572768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8C00"/>
                </a:solidFill>
                <a:latin typeface="Calibri"/>
              </a:defRPr>
            </a:pPr>
            <a:r>
              <a:t>Challenge: Calibration drifts when QArm base is bumped</a:t>
            </a:r>
          </a:p>
          <a:p>
            <a:pPr algn="l">
              <a:defRPr sz="900" b="0">
                <a:solidFill>
                  <a:srgbClr val="4CAF50"/>
                </a:solidFill>
                <a:latin typeface="Calibri"/>
              </a:defRPr>
            </a:pPr>
            <a:r>
              <a:t>Solution: Session-cal system: quick re-cal in &lt;30s with chessboard residual gates (3mm warn, 10mm error)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331720"/>
            <a:ext cx="5669280" cy="731520"/>
          </a:xfrm>
          <a:prstGeom prst="rect">
            <a:avLst/>
          </a:prstGeom>
          <a:solidFill>
            <a:srgbClr val="22223A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350008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8C00"/>
                </a:solidFill>
                <a:latin typeface="Calibri"/>
              </a:defRPr>
            </a:pPr>
            <a:r>
              <a:t>Challenge: Strawberry grip too loose at 0.72</a:t>
            </a:r>
          </a:p>
          <a:p>
            <a:pPr algn="l">
              <a:defRPr sz="900" b="0">
                <a:solidFill>
                  <a:srgbClr val="4CAF50"/>
                </a:solidFill>
                <a:latin typeface="Calibri"/>
              </a:defRPr>
            </a:pPr>
            <a:r>
              <a:t>Solution: Reverted to 0.90 + gripper ramp+readback adapts jaw to fruit size (stalls at thickness)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108960"/>
            <a:ext cx="5669280" cy="731520"/>
          </a:xfrm>
          <a:prstGeom prst="rect">
            <a:avLst/>
          </a:prstGeom>
          <a:solidFill>
            <a:srgbClr val="22223A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127248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8C00"/>
                </a:solidFill>
                <a:latin typeface="Calibri"/>
              </a:defRPr>
            </a:pPr>
            <a:r>
              <a:t>Challenge: Tomato detection false negatives</a:t>
            </a:r>
          </a:p>
          <a:p>
            <a:pPr algn="l">
              <a:defRPr sz="900" b="0">
                <a:solidFill>
                  <a:srgbClr val="4CAF50"/>
                </a:solidFill>
                <a:latin typeface="Calibri"/>
              </a:defRPr>
            </a:pPr>
            <a:r>
              <a:t>Solution: Fixed cam_extrinsics_survey1 passthrough bug + HSV hue-wrap for red range (0-10, 170-180)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886200"/>
            <a:ext cx="5669280" cy="731520"/>
          </a:xfrm>
          <a:prstGeom prst="rect">
            <a:avLst/>
          </a:prstGeom>
          <a:solidFill>
            <a:srgbClr val="22223A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904487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8C00"/>
                </a:solidFill>
                <a:latin typeface="Calibri"/>
              </a:defRPr>
            </a:pPr>
            <a:r>
              <a:t>Challenge: Concurrent D415 reads crash driver</a:t>
            </a:r>
          </a:p>
          <a:p>
            <a:pPr algn="l">
              <a:defRPr sz="900" b="0">
                <a:solidFill>
                  <a:srgbClr val="4CAF50"/>
                </a:solidFill>
                <a:latin typeface="Calibri"/>
              </a:defRPr>
            </a:pPr>
            <a:r>
              <a:t>Solution: Camera reader auto-pauses during capture_fruits(); Quanser Video3D is not thread-safe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663440"/>
            <a:ext cx="5669280" cy="731520"/>
          </a:xfrm>
          <a:prstGeom prst="rect">
            <a:avLst/>
          </a:prstGeom>
          <a:solidFill>
            <a:srgbClr val="22223A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681727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8C00"/>
                </a:solidFill>
                <a:latin typeface="Calibri"/>
              </a:defRPr>
            </a:pPr>
            <a:r>
              <a:t>Challenge: Settle tolerance too tight (0.015 rad)</a:t>
            </a:r>
          </a:p>
          <a:p>
            <a:pPr algn="l">
              <a:defRPr sz="900" b="0">
                <a:solidFill>
                  <a:srgbClr val="4CAF50"/>
                </a:solidFill>
                <a:latin typeface="Calibri"/>
              </a:defRPr>
            </a:pPr>
            <a:r>
              <a:t>Solution: Relaxed to 0.04 rad; downstream chessboard residual (10mm) is the real mm-level guard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5440679"/>
            <a:ext cx="5669280" cy="731520"/>
          </a:xfrm>
          <a:prstGeom prst="rect">
            <a:avLst/>
          </a:prstGeom>
          <a:solidFill>
            <a:srgbClr val="22223A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458967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8C00"/>
                </a:solidFill>
                <a:latin typeface="Calibri"/>
              </a:defRPr>
            </a:pPr>
            <a:r>
              <a:t>Challenge: Strawberry centroid off-centre (calyx)</a:t>
            </a:r>
          </a:p>
          <a:p>
            <a:pPr algn="l">
              <a:defRPr sz="900" b="0">
                <a:solidFill>
                  <a:srgbClr val="4CAF50"/>
                </a:solidFill>
                <a:latin typeface="Calibri"/>
              </a:defRPr>
            </a:pPr>
            <a:r>
              <a:t>Solution: Widest inscribed disk centroid + calyx direction vector biases pick toward fat body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1097280"/>
            <a:ext cx="5669280" cy="36576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11155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Improvements from Feedback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1554480"/>
            <a:ext cx="5669280" cy="3657600"/>
          </a:xfrm>
          <a:prstGeom prst="rect">
            <a:avLst/>
          </a:prstGeom>
          <a:solidFill>
            <a:srgbClr val="22223A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1600200"/>
            <a:ext cx="5303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CAF50"/>
                </a:solidFill>
                <a:latin typeface="Calibri"/>
              </a:defRPr>
            </a:pPr>
            <a:r>
              <a:t>From A1/A2 Feedback:</a:t>
            </a:r>
          </a:p>
          <a:p>
            <a:pPr algn="l"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  Quantitative analysis</a:t>
            </a:r>
          </a:p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  Added RMS residuals, settling times, success rates — not just qualitative descriptions</a:t>
            </a:r>
          </a:p>
          <a:p>
            <a:pPr algn="l"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  Quintic replaces cubic</a:t>
            </a:r>
          </a:p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  Zero acceleration at boundaries eliminates servo jerk; smoother, quieter motion on geared drivetrain</a:t>
            </a:r>
          </a:p>
          <a:p>
            <a:pPr algn="l"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  E-STOP with actual arm halt</a:t>
            </a:r>
          </a:p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  E-STOP now freezes joints + logs EE pose, not just setting a flag the FSM checks later</a:t>
            </a:r>
          </a:p>
          <a:p>
            <a:pPr algn="l"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  Voice control added</a:t>
            </a:r>
          </a:p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  Hands-free operation via Vosk wake-word; accessibility + safety (eyes on arm, not keyboard)</a:t>
            </a:r>
          </a:p>
          <a:p>
            <a:pPr algn="l"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  60+ automated regression tests</a:t>
            </a:r>
          </a:p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  6 test suites + voice tests; prevents regressions across 178 commits of iterative tuning</a:t>
            </a:r>
          </a:p>
          <a:p>
            <a:pPr algn="l"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  Live camera feed during picks</a:t>
            </a:r>
          </a:p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  D415 frame updates in real-time during pick motion; operator sees what the arm sees, not a stale snapshot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5349240"/>
            <a:ext cx="5669280" cy="1005840"/>
          </a:xfrm>
          <a:prstGeom prst="rect">
            <a:avLst/>
          </a:prstGeom>
          <a:solidFill>
            <a:srgbClr val="22223A"/>
          </a:solidFill>
          <a:ln w="127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539496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D6"/>
                </a:solidFill>
                <a:latin typeface="Calibri"/>
              </a:defRPr>
            </a:pPr>
            <a:r>
              <a:t>Development Stats:</a:t>
            </a:r>
          </a:p>
          <a:p>
            <a:pPr algn="l"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1000" b="0">
                <a:solidFill>
                  <a:srgbClr val="FFFFFF"/>
                </a:solidFill>
                <a:latin typeface="Consolas"/>
              </a:defRPr>
            </a:pPr>
            <a:r>
              <a:t>178 commits across 7 branches</a:t>
            </a:r>
          </a:p>
          <a:p>
            <a:pPr algn="l">
              <a:defRPr sz="1000" b="0">
                <a:solidFill>
                  <a:srgbClr val="FFFFFF"/>
                </a:solidFill>
                <a:latin typeface="Consolas"/>
              </a:defRPr>
            </a:pPr>
            <a:r>
              <a:t>60+ automated tests (all passing)</a:t>
            </a:r>
          </a:p>
          <a:p>
            <a:pPr algn="l">
              <a:defRPr sz="1000" b="0">
                <a:solidFill>
                  <a:srgbClr val="FFFFFF"/>
                </a:solidFill>
                <a:latin typeface="Consolas"/>
              </a:defRPr>
            </a:pPr>
            <a:r>
              <a:t>~20 Python modules (driver, vision, control, UI)</a:t>
            </a:r>
          </a:p>
          <a:p>
            <a:pPr algn="l">
              <a:defRPr sz="1000" b="0">
                <a:solidFill>
                  <a:srgbClr val="CCCCCC"/>
                </a:solidFill>
                <a:latin typeface="Consolas"/>
              </a:defRPr>
            </a:pPr>
            <a:r>
              <a:t>Full CI: preflight -&gt; calibrate -&gt; sort -&gt; report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Conclusion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DEEFF"/>
                </a:solidFill>
                <a:latin typeface="Calibri"/>
              </a:defRPr>
            </a:pPr>
            <a:r>
              <a:t>Summary | Theory-Practice Bridge |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914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DDEEFF"/>
                </a:solidFill>
                <a:latin typeface="Calibri"/>
              </a:defRPr>
            </a:pPr>
            <a:r>
              <a:t>Final Project | Applied Robotics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111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105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Piero Flores | Zihen Huang | Ran Zhang | Yichang Chao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CCCCCC"/>
                </a:solidFill>
                <a:latin typeface="Calibri"/>
              </a:defRPr>
            </a:pPr>
            <a:r>
              <a:t>Slide 8/8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097280"/>
            <a:ext cx="3657600" cy="36576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11556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554480"/>
            <a:ext cx="3657600" cy="3291840"/>
          </a:xfrm>
          <a:prstGeom prst="rect">
            <a:avLst/>
          </a:prstGeom>
          <a:solidFill>
            <a:srgbClr val="22223A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60020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CAF50"/>
                </a:solidFill>
                <a:latin typeface="Calibri"/>
              </a:defRPr>
            </a:pPr>
            <a:r>
              <a:t>Achievements:</a:t>
            </a:r>
          </a:p>
          <a:p>
            <a:pPr algn="l"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Complete autonomous fruit sorting system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14 fruits (3 types) sorted into 3 baskets</a:t>
            </a:r>
          </a:p>
          <a:p>
            <a:pPr algn="l"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1000" b="1">
                <a:solidFill>
                  <a:srgbClr val="0096D6"/>
                </a:solidFill>
                <a:latin typeface="Calibri"/>
              </a:defRPr>
            </a:pPr>
            <a:r>
              <a:t>Two operational modes: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  Fully autonomous (vision loop)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  Remote GUI with live feed</a:t>
            </a:r>
          </a:p>
          <a:p>
            <a:pPr algn="l"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1000" b="1">
                <a:solidFill>
                  <a:srgbClr val="FF8C00"/>
                </a:solidFill>
                <a:latin typeface="Calibri"/>
              </a:defRPr>
            </a:pPr>
            <a:r>
              <a:t>Voice control for hands-free</a:t>
            </a:r>
          </a:p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  operation and accessibility</a:t>
            </a:r>
          </a:p>
          <a:p>
            <a:pPr algn="l"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1000" b="1">
                <a:solidFill>
                  <a:srgbClr val="4CAF50"/>
                </a:solidFill>
                <a:latin typeface="Calibri"/>
              </a:defRPr>
            </a:pPr>
            <a:r>
              <a:t>Theory-practice bridge: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  IK, trajectory gen, visual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  servoing, FSM — all applied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  from lecture to real hardware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0" y="1097280"/>
            <a:ext cx="4572000" cy="36576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0" y="111556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Theory-Practice Bridge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0" y="1554480"/>
            <a:ext cx="4572000" cy="320040"/>
          </a:xfrm>
          <a:prstGeom prst="rect">
            <a:avLst/>
          </a:prstGeom>
          <a:solidFill>
            <a:srgbClr val="2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40" y="157276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6D6"/>
                </a:solidFill>
                <a:latin typeface="Consolas"/>
              </a:defRPr>
            </a:pPr>
            <a:r>
              <a:t>Concept            Our Implementation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0" y="1920240"/>
            <a:ext cx="4572000" cy="731520"/>
          </a:xfrm>
          <a:prstGeom prst="rect">
            <a:avLst/>
          </a:prstGeom>
          <a:solidFill>
            <a:srgbClr val="22223A"/>
          </a:solidFill>
          <a:ln w="127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51960" y="1938528"/>
            <a:ext cx="4297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00"/>
                </a:solidFill>
                <a:latin typeface="Calibri"/>
              </a:defRPr>
            </a:pPr>
            <a:r>
              <a:t>Inverse Kinematics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4-solution analytic solver</a:t>
            </a:r>
          </a:p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Ref: Spong &amp; Vidyasagar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0" y="2697480"/>
            <a:ext cx="4572000" cy="731520"/>
          </a:xfrm>
          <a:prstGeom prst="rect">
            <a:avLst/>
          </a:prstGeom>
          <a:solidFill>
            <a:srgbClr val="282842"/>
          </a:solidFill>
          <a:ln w="127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51960" y="2715768"/>
            <a:ext cx="4297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00"/>
                </a:solidFill>
                <a:latin typeface="Calibri"/>
              </a:defRPr>
            </a:pPr>
            <a:r>
              <a:t>Trajectory Gen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Quintic splines (zero jerk)</a:t>
            </a:r>
          </a:p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Ref: Craig Ch.7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0" y="3474720"/>
            <a:ext cx="4572000" cy="731520"/>
          </a:xfrm>
          <a:prstGeom prst="rect">
            <a:avLst/>
          </a:prstGeom>
          <a:solidFill>
            <a:srgbClr val="22223A"/>
          </a:solidFill>
          <a:ln w="127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51960" y="3493008"/>
            <a:ext cx="4297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00"/>
                </a:solidFill>
                <a:latin typeface="Calibri"/>
              </a:defRPr>
            </a:pPr>
            <a:r>
              <a:t>Visual Servoing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D415 solvePnP + homography</a:t>
            </a:r>
          </a:p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Ref: Corke: eye-in-hand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0" y="4251960"/>
            <a:ext cx="4572000" cy="731520"/>
          </a:xfrm>
          <a:prstGeom prst="rect">
            <a:avLst/>
          </a:prstGeom>
          <a:solidFill>
            <a:srgbClr val="282842"/>
          </a:solidFill>
          <a:ln w="127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51960" y="4270248"/>
            <a:ext cx="4297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00"/>
                </a:solidFill>
                <a:latin typeface="Calibri"/>
              </a:defRPr>
            </a:pPr>
            <a:r>
              <a:t>State Machines</a:t>
            </a:r>
          </a:p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13-state pick-place FSM</a:t>
            </a:r>
          </a:p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Ref: FSM / Stateflow theory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69680" y="1097280"/>
            <a:ext cx="3017520" cy="36576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0" y="111556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Future Work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69680" y="1554480"/>
            <a:ext cx="3017520" cy="3291840"/>
          </a:xfrm>
          <a:prstGeom prst="rect">
            <a:avLst/>
          </a:prstGeom>
          <a:solidFill>
            <a:srgbClr val="22223A"/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06840" y="1600200"/>
            <a:ext cx="2743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6B"/>
                </a:solidFill>
                <a:latin typeface="Calibri"/>
              </a:defRPr>
            </a:pPr>
            <a:r>
              <a:t>Recommendations:</a:t>
            </a:r>
          </a:p>
          <a:p>
            <a:pPr algn="l"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Full Parallax Projection</a:t>
            </a:r>
          </a:p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Eliminate pose-dependent calibration limitation</a:t>
            </a:r>
          </a:p>
          <a:p>
            <a:pPr algn="l"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ML-Based Detection</a:t>
            </a:r>
          </a:p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Replace hand-tuned HSV with trained classifier</a:t>
            </a:r>
          </a:p>
          <a:p>
            <a:pPr algn="l"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Soft Gripper Design</a:t>
            </a:r>
          </a:p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Custom compliant fingers for delicate fruits</a:t>
            </a:r>
          </a:p>
          <a:p>
            <a:pPr algn="l"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Multi-Arm Coordination</a:t>
            </a:r>
          </a:p>
          <a:p>
            <a:pPr algn="l">
              <a:defRPr sz="900" b="0">
                <a:solidFill>
                  <a:srgbClr val="CCCCCC"/>
                </a:solidFill>
                <a:latin typeface="Calibri"/>
              </a:defRPr>
            </a:pPr>
            <a:r>
              <a:t>Parallel sorting for higher throughput</a:t>
            </a:r>
          </a:p>
        </p:txBody>
      </p:sp>
      <p:pic>
        <p:nvPicPr>
          <p:cNvPr id="29" name="Picture 28" descr="ee_position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29200"/>
            <a:ext cx="11612880" cy="1371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